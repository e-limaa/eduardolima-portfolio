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Pageviews</c:v>
                </c:pt>
              </c:strCache>
            </c:strRef>
          </c:tx>
          <c:spPr>
            <a:solidFill>
              <a:srgbClr val="16324F"/>
            </a:solidFill>
            <a:ln w="25400" cap="flat">
              <a:solidFill>
                <a:srgbClr val="1632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324F"/>
              </a:solidFill>
              <a:ln w="9525" cap="flat">
                <a:solidFill>
                  <a:srgbClr val="1632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2026-03-15</c:v>
                  </c:pt>
                  <c:pt idx="1">
                    <c:v>2026-03-16</c:v>
                  </c:pt>
                  <c:pt idx="2">
                    <c:v>2026-03-17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Visitantes unicos</c:v>
                </c:pt>
              </c:strCache>
            </c:strRef>
          </c:tx>
          <c:spPr>
            <a:solidFill>
              <a:srgbClr val="1E6F74"/>
            </a:solidFill>
            <a:ln w="25400" cap="flat">
              <a:solidFill>
                <a:srgbClr val="1E6F7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6F74"/>
              </a:solidFill>
              <a:ln w="9525" cap="flat">
                <a:solidFill>
                  <a:srgbClr val="1E6F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2026-03-15</c:v>
                  </c:pt>
                  <c:pt idx="1">
                    <c:v>2026-03-16</c:v>
                  </c:pt>
                  <c:pt idx="2">
                    <c:v>2026-03-17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8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Pageviews</c:v>
                </c:pt>
              </c:strCache>
            </c:strRef>
          </c:tx>
          <c:spPr>
            <a:solidFill>
              <a:srgbClr val="C78A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/</c:v>
                  </c:pt>
                  <c:pt idx="1">
                    <c:v>/newsletter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Eventos</c:v>
                </c:pt>
              </c:strCache>
            </c:strRef>
          </c:tx>
          <c:spPr>
            <a:solidFill>
              <a:srgbClr val="C65D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Language Changed</c:v>
                  </c:pt>
                  <c:pt idx="1">
                    <c:v>Theme Toggled</c:v>
                  </c:pt>
                  <c:pt idx="2">
                    <c:v>Hero CTA Clicked</c:v>
                  </c:pt>
                  <c:pt idx="3">
                    <c:v>Newsletter Subscribed</c:v>
                  </c:pt>
                  <c:pt idx="4">
                    <c:v>Newsletter Subscription Attempt</c:v>
                  </c:pt>
                  <c:pt idx="5">
                    <c:v>Navbar Clicked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4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F74"/>
              </a:solidFill>
              <a:effectLst/>
            </c:spPr>
          </c:dPt>
          <c:dPt>
            <c:idx val="1"/>
            <c:bubble3D val="0"/>
            <c:spPr>
              <a:solidFill>
                <a:srgbClr val="C78A2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32238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32238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newsletter</c:v>
                </c:pt>
                <c:pt idx="1">
                  <c:v>projects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Pageviews</c:v>
                </c:pt>
              </c:strCache>
            </c:strRef>
          </c:tx>
          <c:spPr>
            <a:solidFill>
              <a:srgbClr val="1632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Brazil</c:v>
                  </c:pt>
                  <c:pt idx="1">
                    <c:v>China</c:v>
                  </c:pt>
                  <c:pt idx="2">
                    <c:v>United States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9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Devices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78A2C"/>
              </a:solidFill>
              <a:effectLst/>
            </c:spPr>
          </c:dPt>
          <c:dPt>
            <c:idx val="1"/>
            <c:bubble3D val="0"/>
            <c:spPr>
              <a:solidFill>
                <a:srgbClr val="C65D4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32238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32238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</c:v>
                </c:pt>
                <c:pt idx="1">
                  <c:v>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POSTHOG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operacional dos ultimos 3 dias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Periodo: 15-17 Mar 2026 | Janela consultada: 2026-03-15 a 2026-03-17 (UTC)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47088"/>
            <a:ext cx="109728" cy="101498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38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B"/>
                </a:solidFill>
              </a:rPr>
              <a:t>Pageviews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6334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B"/>
                </a:solidFill>
              </a:rPr>
              <a:t>46 eventos de $pageview no periodo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01568" y="1737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847088"/>
            <a:ext cx="109728" cy="1014984"/>
          </a:xfrm>
          <a:prstGeom prst="rect">
            <a:avLst/>
          </a:prstGeom>
          <a:solidFill>
            <a:srgbClr val="1E6F74"/>
          </a:solidFill>
          <a:ln w="12700">
            <a:solidFill>
              <a:srgbClr val="1E6F7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938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B"/>
                </a:solidFill>
              </a:rPr>
              <a:t>Visitantes unicos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21608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21608" y="26334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B"/>
                </a:solidFill>
              </a:rPr>
              <a:t>Base deduplicada por distinct_id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1737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847088"/>
            <a:ext cx="109728" cy="1014984"/>
          </a:xfrm>
          <a:prstGeom prst="rect">
            <a:avLst/>
          </a:prstGeom>
          <a:solidFill>
            <a:srgbClr val="C78A2C"/>
          </a:solidFill>
          <a:ln w="12700">
            <a:solidFill>
              <a:srgbClr val="C78A2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1938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B"/>
                </a:solidFill>
              </a:rPr>
              <a:t>PV por visitante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83096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83096" y="26334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B"/>
                </a:solidFill>
              </a:rPr>
              <a:t>Indicador de profundidade de navegacao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24544" y="1737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34272" y="1847088"/>
            <a:ext cx="109728" cy="1014984"/>
          </a:xfrm>
          <a:prstGeom prst="rect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4584" y="1938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B"/>
                </a:solidFill>
              </a:rPr>
              <a:t>Newsletter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44584" y="26334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B"/>
                </a:solidFill>
              </a:rPr>
              <a:t>1 tentativa e 1 inscricao concluida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324612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FFDFC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Destaques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7947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32238"/>
                </a:solidFill>
              </a:rPr>
              <a:t>O pico ocorreu em 15 Mar, com 30 pageviews, ou 65% do periodo.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32238"/>
                </a:solidFill>
              </a:rPr>
              <a:t>A home (/) concentrou 37 pageviews, equivalentes a 80% do trafego.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32238"/>
                </a:solidFill>
              </a:rPr>
              <a:t>Desktop dominou o acesso: 44 pageviews, contra 2 em mobile.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32238"/>
                </a:solidFill>
              </a:rPr>
              <a:t>O Brasil liderou a origem do trafego com 34 pageviews.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3246120"/>
            <a:ext cx="5193792" cy="2377440"/>
          </a:xfrm>
          <a:prstGeom prst="roundRect">
            <a:avLst>
              <a:gd name="adj" fmla="val 3077"/>
            </a:avLst>
          </a:prstGeom>
          <a:solidFill>
            <a:srgbClr val="F1E8DA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34930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Leitura executiva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8404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238"/>
                </a:solidFill>
              </a:rPr>
              <a:t>O volume ainda e baixo, mas a instrumentacao esta ativa e consistente: pageviews, CTAs, troca de idioma, toggle de tema e fluxo de newsletter apareceram no periodo.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73659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2238"/>
                </a:solidFill>
              </a:rPr>
              <a:t>A principal oportunidade imediata e converter melhor a atencao da home para o cadastro da newsletter, mantendo a home como hub principal de descoberta.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B"/>
                </a:solidFill>
              </a:rPr>
              <a:t>Fonte: PostHog API queries | Projeto 340503 | Timezone UTC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TRAFEGO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Evolucao diaria e distribuicao por pagina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Pageviews e visitantes unicos por dia, com foco no mix entre home e newsletter.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400800" cy="4251960"/>
          </a:xfrm>
          <a:prstGeom prst="roundRect">
            <a:avLst>
              <a:gd name="adj" fmla="val 1720"/>
            </a:avLst>
          </a:prstGeom>
          <a:solidFill>
            <a:srgbClr val="FFFDFC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Tendencia diaria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2240280"/>
          <a:ext cx="5806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269480" y="1737360"/>
            <a:ext cx="4279392" cy="2057400"/>
          </a:xfrm>
          <a:prstGeom prst="roundRect">
            <a:avLst>
              <a:gd name="adj" fmla="val 3556"/>
            </a:avLst>
          </a:prstGeom>
          <a:solidFill>
            <a:srgbClr val="FFFDFC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Paginas mais vistas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7498080" y="2240280"/>
          <a:ext cx="361188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269480" y="3931920"/>
            <a:ext cx="4279392" cy="2057400"/>
          </a:xfrm>
          <a:prstGeom prst="roundRect">
            <a:avLst>
              <a:gd name="adj" fmla="val 3556"/>
            </a:avLst>
          </a:prstGeom>
          <a:solidFill>
            <a:srgbClr val="F4ECE0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4980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Interpretacao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498080" y="448056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238"/>
                </a:solidFill>
              </a:rPr>
              <a:t>A home concentrou 80% do trafego total.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238"/>
                </a:solidFill>
              </a:rPr>
              <a:t>O segundo dia caiu para 12 pageviews, sugerindo um padrao concentrado de acesso.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238"/>
                </a:solidFill>
              </a:rPr>
              <a:t>A /newsletter responde por 9 pageviews e sustenta o principal objetivo de conversao capturado.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B"/>
                </a:solidFill>
              </a:rPr>
              <a:t>Fonte: PostHog API queries | Projeto 340503 | Timezone UTC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ENGAJAMENTO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Eventos customizados e sinais de conversao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dos eventos instrumentados no portfolio para entender interacao e intencao.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537960" cy="4343400"/>
          </a:xfrm>
          <a:prstGeom prst="roundRect">
            <a:avLst>
              <a:gd name="adj" fmla="val 1684"/>
            </a:avLst>
          </a:prstGeom>
          <a:solidFill>
            <a:srgbClr val="FFFDFC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38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Top eventos customizados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2240280"/>
          <a:ext cx="5806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60920" y="1737360"/>
            <a:ext cx="4187952" cy="2011680"/>
          </a:xfrm>
          <a:prstGeom prst="roundRect">
            <a:avLst>
              <a:gd name="adj" fmla="val 3636"/>
            </a:avLst>
          </a:prstGeom>
          <a:solidFill>
            <a:srgbClr val="FFFDFC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0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Hero CTA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7543800" y="2194560"/>
          <a:ext cx="19202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360920" y="3931920"/>
            <a:ext cx="4187952" cy="2148840"/>
          </a:xfrm>
          <a:prstGeom prst="roundRect">
            <a:avLst>
              <a:gd name="adj" fmla="val 3404"/>
            </a:avLst>
          </a:prstGeom>
          <a:solidFill>
            <a:srgbClr val="F4ECE0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89520" y="4160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Conversao da newsletter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58952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57C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1/1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9098280" y="46451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100% no periodo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589520" y="50474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238"/>
                </a:solidFill>
              </a:rPr>
              <a:t>A amostra e pequena, mas valida o funcionamento do fluxo. O CTA principal do hero direcionou 75% dos cliques para a newsletter.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00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B"/>
                </a:solidFill>
              </a:rPr>
              <a:t>Fonte: PostHog API queries | Projeto 340503 | Timezone UTC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Origem geografica, device mix e limites de leitura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complementar para interpretar o volume e priorizar proximos ajustes de produto.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FFDFC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Pais de origem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" y="2240280"/>
          <a:ext cx="457200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080760" y="17373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DFC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1938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Devices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55080" y="2240280"/>
          <a:ext cx="201168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9006840" y="1737360"/>
            <a:ext cx="2542032" cy="2194560"/>
          </a:xfrm>
          <a:prstGeom prst="roundRect">
            <a:avLst>
              <a:gd name="adj" fmla="val 3333"/>
            </a:avLst>
          </a:prstGeom>
          <a:solidFill>
            <a:srgbClr val="F4ECE0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235440" y="1938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Janela ativa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235440" y="23317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B8B"/>
                </a:solidFill>
              </a:rPr>
              <a:t>Primeiro evento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9235440" y="25237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238"/>
                </a:solidFill>
              </a:rPr>
              <a:t>2026-03-15 02:58 UTC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235440" y="28803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B8B"/>
                </a:solidFill>
              </a:rPr>
              <a:t>Ultimo evento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9235440" y="30723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238"/>
                </a:solidFill>
              </a:rPr>
              <a:t>2026-03-17 14:30 UTC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4160520"/>
            <a:ext cx="109087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CFBE"/>
            </a:solidFill>
            <a:prstDash val="solid"/>
          </a:ln>
          <a:effectLst>
            <a:outerShdw sx="100000" sy="100000" kx="0" ky="0" algn="bl" rotWithShape="0" blurRad="19050" dist="12700" dir="2700000">
              <a:srgbClr val="6F5B4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8680" y="44074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</a:rPr>
              <a:t>Recomendacoes imediatas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68680" y="47091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238"/>
                </a:solidFill>
              </a:rPr>
              <a:t>Aumentar a distribuicao da home, porque ela ja concentra a maior parte do trafego e dos cliques de CTA.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238"/>
                </a:solidFill>
              </a:rPr>
              <a:t>Instrumentar mais eventos de profundidade em projetos e newsletter para separar curiosidade de intencao real.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238"/>
                </a:solidFill>
              </a:rPr>
              <a:t>Monitorar o mobile, que ainda representa pouco volume e pode esconder oportunidades de otimizar CTA e layout.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00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B"/>
                </a:solidFill>
              </a:rPr>
              <a:t>Fonte: PostHog API queries | Projeto 340503 | Timezone UTC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PostHog analytics - last 3 days</dc:title>
  <dc:subject>PostHog analytics summary</dc:subject>
  <dc:creator>OpenAI Codex</dc:creator>
  <cp:lastModifiedBy>OpenAI Codex</cp:lastModifiedBy>
  <cp:revision>1</cp:revision>
  <dcterms:created xsi:type="dcterms:W3CDTF">2026-03-17T16:07:04Z</dcterms:created>
  <dcterms:modified xsi:type="dcterms:W3CDTF">2026-03-17T16:07:04Z</dcterms:modified>
</cp:coreProperties>
</file>